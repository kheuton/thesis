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59436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1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/>
    <p:restoredTop sz="81661"/>
  </p:normalViewPr>
  <p:slideViewPr>
    <p:cSldViewPr snapToGrid="0" showGuides="1">
      <p:cViewPr>
        <p:scale>
          <a:sx n="121" d="100"/>
          <a:sy n="121" d="100"/>
        </p:scale>
        <p:origin x="440" y="752"/>
      </p:cViewPr>
      <p:guideLst>
        <p:guide orient="horz" pos="864"/>
        <p:guide pos="1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FF833-7F21-8044-80BD-798A1C29D194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DBE8A-8563-F542-AF75-78297B4D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81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1pPr>
    <a:lvl2pPr marL="208483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2pPr>
    <a:lvl3pPr marL="416966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3pPr>
    <a:lvl4pPr marL="625450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4pPr>
    <a:lvl5pPr marL="833933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5pPr>
    <a:lvl6pPr marL="1042416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6pPr>
    <a:lvl7pPr marL="1250899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7pPr>
    <a:lvl8pPr marL="1459382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8pPr>
    <a:lvl9pPr marL="1667866" algn="l" defTabSz="416966" rtl="0" eaLnBrk="1" latinLnBrk="0" hangingPunct="1">
      <a:defRPr sz="5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16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p_{\phi}( y_{~~}, y_{~~},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ldots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 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r_s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(\phi) &amp;=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mathbb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{E}_{p_\phi}[ 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y_s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 ]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\\~\\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r^*_s(\phi) &amp;=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mathbb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{E}_{p_\phi}\left[ \frac{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y_s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}{\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mathbf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{1}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cdot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 \</a:t>
            </a:r>
            <a:r>
              <a:rPr lang="en-US" dirty="0" err="1">
                <a:solidFill>
                  <a:srgbClr val="000000"/>
                </a:solidFill>
                <a:effectLst/>
                <a:latin typeface="Monaco" pitchFamily="2" charset="77"/>
              </a:rPr>
              <a:t>mathbf</a:t>
            </a:r>
            <a:r>
              <a:rPr lang="en-US" dirty="0">
                <a:solidFill>
                  <a:srgbClr val="000000"/>
                </a:solidFill>
                <a:effectLst/>
                <a:latin typeface="Monaco" pitchFamily="2" charset="77"/>
              </a:rPr>
              <a:t>{y}} \right]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DBE8A-8563-F542-AF75-78297B4D74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36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48945"/>
            <a:ext cx="44577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1440815"/>
            <a:ext cx="44577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6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3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683895"/>
            <a:ext cx="512635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1835785"/>
            <a:ext cx="512635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3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730250"/>
            <a:ext cx="252603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730250"/>
            <a:ext cx="252603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9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46050"/>
            <a:ext cx="512635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672465"/>
            <a:ext cx="2514421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002030"/>
            <a:ext cx="2514421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672465"/>
            <a:ext cx="252680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002030"/>
            <a:ext cx="252680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4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2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9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82880"/>
            <a:ext cx="1916966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394970"/>
            <a:ext cx="3008948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822960"/>
            <a:ext cx="1916966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9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82880"/>
            <a:ext cx="1916966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394970"/>
            <a:ext cx="3008948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822960"/>
            <a:ext cx="1916966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8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9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146050"/>
            <a:ext cx="1281589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146050"/>
            <a:ext cx="3770471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3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146050"/>
            <a:ext cx="512635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730250"/>
            <a:ext cx="512635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2542540"/>
            <a:ext cx="133731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BC0F7-F59D-2947-A401-AE9BAAD52833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2542540"/>
            <a:ext cx="200596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2542540"/>
            <a:ext cx="133731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79B64-04C8-3645-BC1E-33ACC7817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1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page3image37455360">
            <a:extLst>
              <a:ext uri="{FF2B5EF4-FFF2-40B4-BE49-F238E27FC236}">
                <a16:creationId xmlns:a16="http://schemas.microsoft.com/office/drawing/2014/main" id="{2455B85B-7A3E-21CF-0A00-70F8A4893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14291" y="-1412096"/>
            <a:ext cx="22265153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3image47979424">
            <a:extLst>
              <a:ext uri="{FF2B5EF4-FFF2-40B4-BE49-F238E27FC236}">
                <a16:creationId xmlns:a16="http://schemas.microsoft.com/office/drawing/2014/main" id="{F3907864-0D91-649C-C4D4-D468B0D6D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865" y="50838"/>
            <a:ext cx="1053484" cy="100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D5A84B99-A7D4-1D68-CECE-11F58AC5D1F0}"/>
              </a:ext>
            </a:extLst>
          </p:cNvPr>
          <p:cNvGrpSpPr/>
          <p:nvPr/>
        </p:nvGrpSpPr>
        <p:grpSpPr>
          <a:xfrm>
            <a:off x="854766" y="693468"/>
            <a:ext cx="1339985" cy="474993"/>
            <a:chOff x="361835" y="676283"/>
            <a:chExt cx="1339985" cy="474993"/>
          </a:xfrm>
        </p:grpSpPr>
        <p:pic>
          <p:nvPicPr>
            <p:cNvPr id="1028" name="Picture 4" descr="page3image47987952">
              <a:extLst>
                <a:ext uri="{FF2B5EF4-FFF2-40B4-BE49-F238E27FC236}">
                  <a16:creationId xmlns:a16="http://schemas.microsoft.com/office/drawing/2014/main" id="{AAE77304-60A6-9E1C-E1A9-B16C3D6E3E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86" t="1121" r="49235" b="89844"/>
            <a:stretch/>
          </p:blipFill>
          <p:spPr bwMode="auto">
            <a:xfrm>
              <a:off x="403245" y="676283"/>
              <a:ext cx="1224833" cy="474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C5E8F9-CE22-E3E6-7734-76FC67DF5CFB}"/>
                </a:ext>
              </a:extLst>
            </p:cNvPr>
            <p:cNvSpPr txBox="1"/>
            <p:nvPr/>
          </p:nvSpPr>
          <p:spPr>
            <a:xfrm>
              <a:off x="361835" y="689611"/>
              <a:ext cx="13399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①   ② ③ ④⑤⑥   ⑦ ⑧ ⑨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E0DAAD-CF97-D4CE-C86C-36ECFCFFB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0131"/>
              </p:ext>
            </p:extLst>
          </p:nvPr>
        </p:nvGraphicFramePr>
        <p:xfrm>
          <a:off x="50716" y="1451403"/>
          <a:ext cx="1186047" cy="1255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91">
                  <a:extLst>
                    <a:ext uri="{9D8B030D-6E8A-4147-A177-3AD203B41FA5}">
                      <a16:colId xmlns:a16="http://schemas.microsoft.com/office/drawing/2014/main" val="1432202945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454337477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2181576228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2506546780"/>
                    </a:ext>
                  </a:extLst>
                </a:gridCol>
                <a:gridCol w="237364">
                  <a:extLst>
                    <a:ext uri="{9D8B030D-6E8A-4147-A177-3AD203B41FA5}">
                      <a16:colId xmlns:a16="http://schemas.microsoft.com/office/drawing/2014/main" val="717840859"/>
                    </a:ext>
                  </a:extLst>
                </a:gridCol>
              </a:tblGrid>
              <a:tr h="20712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434868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800483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②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275843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③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729244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④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538777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⑤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6694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2C0E5CB-562C-3486-D82B-EA7DA6EE8DE6}"/>
              </a:ext>
            </a:extLst>
          </p:cNvPr>
          <p:cNvSpPr txBox="1"/>
          <p:nvPr/>
        </p:nvSpPr>
        <p:spPr>
          <a:xfrm>
            <a:off x="-61188" y="1151276"/>
            <a:ext cx="13276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Data-driven top-K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E0FC27B-3B39-7669-373C-DE6BB3EB3CF1}"/>
              </a:ext>
            </a:extLst>
          </p:cNvPr>
          <p:cNvSpPr/>
          <p:nvPr/>
        </p:nvSpPr>
        <p:spPr>
          <a:xfrm>
            <a:off x="1524759" y="1687967"/>
            <a:ext cx="202211" cy="216809"/>
          </a:xfrm>
          <a:custGeom>
            <a:avLst/>
            <a:gdLst>
              <a:gd name="connsiteX0" fmla="*/ 0 w 488524"/>
              <a:gd name="connsiteY0" fmla="*/ 249182 h 256415"/>
              <a:gd name="connsiteX1" fmla="*/ 70339 w 488524"/>
              <a:gd name="connsiteY1" fmla="*/ 65220 h 256415"/>
              <a:gd name="connsiteX2" fmla="*/ 151499 w 488524"/>
              <a:gd name="connsiteY2" fmla="*/ 292 h 256415"/>
              <a:gd name="connsiteX3" fmla="*/ 200194 w 488524"/>
              <a:gd name="connsiteY3" fmla="*/ 43578 h 256415"/>
              <a:gd name="connsiteX4" fmla="*/ 205605 w 488524"/>
              <a:gd name="connsiteY4" fmla="*/ 97684 h 256415"/>
              <a:gd name="connsiteX5" fmla="*/ 211016 w 488524"/>
              <a:gd name="connsiteY5" fmla="*/ 189665 h 256415"/>
              <a:gd name="connsiteX6" fmla="*/ 238069 w 488524"/>
              <a:gd name="connsiteY6" fmla="*/ 249182 h 256415"/>
              <a:gd name="connsiteX7" fmla="*/ 330050 w 488524"/>
              <a:gd name="connsiteY7" fmla="*/ 254593 h 256415"/>
              <a:gd name="connsiteX8" fmla="*/ 481548 w 488524"/>
              <a:gd name="connsiteY8" fmla="*/ 254593 h 256415"/>
              <a:gd name="connsiteX9" fmla="*/ 449084 w 488524"/>
              <a:gd name="connsiteY9" fmla="*/ 232950 h 25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8524" h="256415">
                <a:moveTo>
                  <a:pt x="0" y="249182"/>
                </a:moveTo>
                <a:cubicBezTo>
                  <a:pt x="22544" y="177942"/>
                  <a:pt x="45089" y="106702"/>
                  <a:pt x="70339" y="65220"/>
                </a:cubicBezTo>
                <a:cubicBezTo>
                  <a:pt x="95589" y="23738"/>
                  <a:pt x="129856" y="3899"/>
                  <a:pt x="151499" y="292"/>
                </a:cubicBezTo>
                <a:cubicBezTo>
                  <a:pt x="173142" y="-3315"/>
                  <a:pt x="191176" y="27346"/>
                  <a:pt x="200194" y="43578"/>
                </a:cubicBezTo>
                <a:cubicBezTo>
                  <a:pt x="209212" y="59810"/>
                  <a:pt x="203801" y="73336"/>
                  <a:pt x="205605" y="97684"/>
                </a:cubicBezTo>
                <a:cubicBezTo>
                  <a:pt x="207409" y="122032"/>
                  <a:pt x="205605" y="164415"/>
                  <a:pt x="211016" y="189665"/>
                </a:cubicBezTo>
                <a:cubicBezTo>
                  <a:pt x="216427" y="214915"/>
                  <a:pt x="218230" y="238361"/>
                  <a:pt x="238069" y="249182"/>
                </a:cubicBezTo>
                <a:cubicBezTo>
                  <a:pt x="257908" y="260003"/>
                  <a:pt x="289470" y="253691"/>
                  <a:pt x="330050" y="254593"/>
                </a:cubicBezTo>
                <a:cubicBezTo>
                  <a:pt x="370630" y="255495"/>
                  <a:pt x="461709" y="258200"/>
                  <a:pt x="481548" y="254593"/>
                </a:cubicBezTo>
                <a:cubicBezTo>
                  <a:pt x="501387" y="250986"/>
                  <a:pt x="475235" y="241968"/>
                  <a:pt x="449084" y="23295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2C5A59B-62FF-E6EB-8D1C-872082262F0A}"/>
              </a:ext>
            </a:extLst>
          </p:cNvPr>
          <p:cNvSpPr/>
          <p:nvPr/>
        </p:nvSpPr>
        <p:spPr>
          <a:xfrm>
            <a:off x="1524759" y="1911572"/>
            <a:ext cx="245818" cy="216809"/>
          </a:xfrm>
          <a:custGeom>
            <a:avLst/>
            <a:gdLst>
              <a:gd name="connsiteX0" fmla="*/ 0 w 227247"/>
              <a:gd name="connsiteY0" fmla="*/ 243798 h 249385"/>
              <a:gd name="connsiteX1" fmla="*/ 21642 w 227247"/>
              <a:gd name="connsiteY1" fmla="*/ 130174 h 249385"/>
              <a:gd name="connsiteX2" fmla="*/ 21642 w 227247"/>
              <a:gd name="connsiteY2" fmla="*/ 81478 h 249385"/>
              <a:gd name="connsiteX3" fmla="*/ 70338 w 227247"/>
              <a:gd name="connsiteY3" fmla="*/ 318 h 249385"/>
              <a:gd name="connsiteX4" fmla="*/ 102802 w 227247"/>
              <a:gd name="connsiteY4" fmla="*/ 113942 h 249385"/>
              <a:gd name="connsiteX5" fmla="*/ 119034 w 227247"/>
              <a:gd name="connsiteY5" fmla="*/ 238387 h 249385"/>
              <a:gd name="connsiteX6" fmla="*/ 194783 w 227247"/>
              <a:gd name="connsiteY6" fmla="*/ 243798 h 249385"/>
              <a:gd name="connsiteX7" fmla="*/ 227247 w 227247"/>
              <a:gd name="connsiteY7" fmla="*/ 243798 h 249385"/>
              <a:gd name="connsiteX8" fmla="*/ 227247 w 227247"/>
              <a:gd name="connsiteY8" fmla="*/ 243798 h 24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7247" h="249385">
                <a:moveTo>
                  <a:pt x="0" y="243798"/>
                </a:moveTo>
                <a:cubicBezTo>
                  <a:pt x="9017" y="200512"/>
                  <a:pt x="18035" y="157227"/>
                  <a:pt x="21642" y="130174"/>
                </a:cubicBezTo>
                <a:cubicBezTo>
                  <a:pt x="25249" y="103121"/>
                  <a:pt x="13526" y="103121"/>
                  <a:pt x="21642" y="81478"/>
                </a:cubicBezTo>
                <a:cubicBezTo>
                  <a:pt x="29758" y="59835"/>
                  <a:pt x="56811" y="-5093"/>
                  <a:pt x="70338" y="318"/>
                </a:cubicBezTo>
                <a:cubicBezTo>
                  <a:pt x="83865" y="5729"/>
                  <a:pt x="94686" y="74264"/>
                  <a:pt x="102802" y="113942"/>
                </a:cubicBezTo>
                <a:cubicBezTo>
                  <a:pt x="110918" y="153620"/>
                  <a:pt x="103704" y="216744"/>
                  <a:pt x="119034" y="238387"/>
                </a:cubicBezTo>
                <a:cubicBezTo>
                  <a:pt x="134364" y="260030"/>
                  <a:pt x="176748" y="242896"/>
                  <a:pt x="194783" y="243798"/>
                </a:cubicBezTo>
                <a:cubicBezTo>
                  <a:pt x="212818" y="244700"/>
                  <a:pt x="227247" y="243798"/>
                  <a:pt x="227247" y="243798"/>
                </a:cubicBezTo>
                <a:lnTo>
                  <a:pt x="227247" y="243798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9A3D2B2-34DD-AD95-03B7-F8B97B78498C}"/>
              </a:ext>
            </a:extLst>
          </p:cNvPr>
          <p:cNvSpPr/>
          <p:nvPr/>
        </p:nvSpPr>
        <p:spPr>
          <a:xfrm>
            <a:off x="1510472" y="2058923"/>
            <a:ext cx="274393" cy="266158"/>
          </a:xfrm>
          <a:custGeom>
            <a:avLst/>
            <a:gdLst>
              <a:gd name="connsiteX0" fmla="*/ 0 w 401443"/>
              <a:gd name="connsiteY0" fmla="*/ 327112 h 334546"/>
              <a:gd name="connsiteX1" fmla="*/ 81775 w 401443"/>
              <a:gd name="connsiteY1" fmla="*/ 327112 h 334546"/>
              <a:gd name="connsiteX2" fmla="*/ 170985 w 401443"/>
              <a:gd name="connsiteY2" fmla="*/ 327112 h 334546"/>
              <a:gd name="connsiteX3" fmla="*/ 185853 w 401443"/>
              <a:gd name="connsiteY3" fmla="*/ 252771 h 334546"/>
              <a:gd name="connsiteX4" fmla="*/ 185853 w 401443"/>
              <a:gd name="connsiteY4" fmla="*/ 163561 h 334546"/>
              <a:gd name="connsiteX5" fmla="*/ 260195 w 401443"/>
              <a:gd name="connsiteY5" fmla="*/ 10 h 334546"/>
              <a:gd name="connsiteX6" fmla="*/ 297365 w 401443"/>
              <a:gd name="connsiteY6" fmla="*/ 156127 h 334546"/>
              <a:gd name="connsiteX7" fmla="*/ 297365 w 401443"/>
              <a:gd name="connsiteY7" fmla="*/ 275073 h 334546"/>
              <a:gd name="connsiteX8" fmla="*/ 401443 w 401443"/>
              <a:gd name="connsiteY8" fmla="*/ 334546 h 33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443" h="334546">
                <a:moveTo>
                  <a:pt x="0" y="327112"/>
                </a:moveTo>
                <a:lnTo>
                  <a:pt x="81775" y="327112"/>
                </a:lnTo>
                <a:cubicBezTo>
                  <a:pt x="110272" y="327112"/>
                  <a:pt x="153639" y="339502"/>
                  <a:pt x="170985" y="327112"/>
                </a:cubicBezTo>
                <a:cubicBezTo>
                  <a:pt x="188331" y="314722"/>
                  <a:pt x="183375" y="280029"/>
                  <a:pt x="185853" y="252771"/>
                </a:cubicBezTo>
                <a:cubicBezTo>
                  <a:pt x="188331" y="225512"/>
                  <a:pt x="173463" y="205688"/>
                  <a:pt x="185853" y="163561"/>
                </a:cubicBezTo>
                <a:cubicBezTo>
                  <a:pt x="198243" y="121434"/>
                  <a:pt x="241610" y="1249"/>
                  <a:pt x="260195" y="10"/>
                </a:cubicBezTo>
                <a:cubicBezTo>
                  <a:pt x="278780" y="-1229"/>
                  <a:pt x="291170" y="110283"/>
                  <a:pt x="297365" y="156127"/>
                </a:cubicBezTo>
                <a:cubicBezTo>
                  <a:pt x="303560" y="201971"/>
                  <a:pt x="280019" y="245336"/>
                  <a:pt x="297365" y="275073"/>
                </a:cubicBezTo>
                <a:cubicBezTo>
                  <a:pt x="314711" y="304809"/>
                  <a:pt x="358077" y="319677"/>
                  <a:pt x="401443" y="334546"/>
                </a:cubicBezTo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86E7FD-64C2-092E-7A3F-D8B3C2464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301" y="1510348"/>
            <a:ext cx="750850" cy="1273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3C11DF-D7CA-7780-3D82-3412395FCFAB}"/>
              </a:ext>
            </a:extLst>
          </p:cNvPr>
          <p:cNvSpPr txBox="1"/>
          <p:nvPr/>
        </p:nvSpPr>
        <p:spPr>
          <a:xfrm>
            <a:off x="1467921" y="1537265"/>
            <a:ext cx="49803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①       ②.         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29806C-7877-9671-A350-8B8C6F9525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5620" y="1548424"/>
            <a:ext cx="81376" cy="81376"/>
          </a:xfrm>
          <a:prstGeom prst="rect">
            <a:avLst/>
          </a:prstGeom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87546568-B957-837F-F402-D87D72E9BC37}"/>
              </a:ext>
            </a:extLst>
          </p:cNvPr>
          <p:cNvSpPr/>
          <p:nvPr/>
        </p:nvSpPr>
        <p:spPr>
          <a:xfrm>
            <a:off x="1236763" y="1848561"/>
            <a:ext cx="206062" cy="21835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1A375CA3-3120-24F5-3115-46DE875D0C93}"/>
              </a:ext>
            </a:extLst>
          </p:cNvPr>
          <p:cNvSpPr/>
          <p:nvPr/>
        </p:nvSpPr>
        <p:spPr>
          <a:xfrm>
            <a:off x="1865781" y="1840567"/>
            <a:ext cx="206062" cy="21835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AB712F2-EB29-4DEF-996A-DCAB2855480C}"/>
              </a:ext>
            </a:extLst>
          </p:cNvPr>
          <p:cNvSpPr/>
          <p:nvPr/>
        </p:nvSpPr>
        <p:spPr>
          <a:xfrm>
            <a:off x="2391768" y="1848561"/>
            <a:ext cx="206062" cy="21835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F76FF0-D553-574A-AE42-22CC09089911}"/>
              </a:ext>
            </a:extLst>
          </p:cNvPr>
          <p:cNvSpPr txBox="1"/>
          <p:nvPr/>
        </p:nvSpPr>
        <p:spPr>
          <a:xfrm>
            <a:off x="1326808" y="1265935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joint model 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for 2025 Q1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19EA74-E634-0209-9EB4-DBEA19DADE66}"/>
              </a:ext>
            </a:extLst>
          </p:cNvPr>
          <p:cNvSpPr txBox="1"/>
          <p:nvPr/>
        </p:nvSpPr>
        <p:spPr>
          <a:xfrm>
            <a:off x="2030835" y="1267297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ranking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scores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24ADE28-4F6C-4501-ADB3-84F4658B5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171692"/>
              </p:ext>
            </p:extLst>
          </p:nvPr>
        </p:nvGraphicFramePr>
        <p:xfrm>
          <a:off x="2117290" y="1656747"/>
          <a:ext cx="237364" cy="103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64">
                  <a:extLst>
                    <a:ext uri="{9D8B030D-6E8A-4147-A177-3AD203B41FA5}">
                      <a16:colId xmlns:a16="http://schemas.microsoft.com/office/drawing/2014/main" val="1661065086"/>
                    </a:ext>
                  </a:extLst>
                </a:gridCol>
              </a:tblGrid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429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3816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14387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612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57203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7C160D4-37AE-5544-0257-0473615F4406}"/>
              </a:ext>
            </a:extLst>
          </p:cNvPr>
          <p:cNvSpPr txBox="1"/>
          <p:nvPr/>
        </p:nvSpPr>
        <p:spPr>
          <a:xfrm>
            <a:off x="2421603" y="126729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top K=2</a:t>
            </a: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</a:p>
          <a:p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as binary mask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BDDA363-2FA0-6870-8987-BAF99EB28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649146"/>
              </p:ext>
            </p:extLst>
          </p:nvPr>
        </p:nvGraphicFramePr>
        <p:xfrm>
          <a:off x="2621644" y="1656747"/>
          <a:ext cx="237364" cy="1035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64">
                  <a:extLst>
                    <a:ext uri="{9D8B030D-6E8A-4147-A177-3AD203B41FA5}">
                      <a16:colId xmlns:a16="http://schemas.microsoft.com/office/drawing/2014/main" val="1661065086"/>
                    </a:ext>
                  </a:extLst>
                </a:gridCol>
              </a:tblGrid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429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43816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14387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612310"/>
                  </a:ext>
                </a:extLst>
              </a:tr>
              <a:tr h="2071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855202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87B28E-CC1A-5BFE-FF3B-87BA17D69C2B}"/>
              </a:ext>
            </a:extLst>
          </p:cNvPr>
          <p:cNvSpPr txBox="1"/>
          <p:nvPr/>
        </p:nvSpPr>
        <p:spPr>
          <a:xfrm>
            <a:off x="4428083" y="1135130"/>
            <a:ext cx="9845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How to Train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6FB34D-2F67-B349-D6F5-2B947F82B6AC}"/>
              </a:ext>
            </a:extLst>
          </p:cNvPr>
          <p:cNvSpPr txBox="1"/>
          <p:nvPr/>
        </p:nvSpPr>
        <p:spPr>
          <a:xfrm>
            <a:off x="3004261" y="1151871"/>
            <a:ext cx="9925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How to Rank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10514542-1316-0176-259F-D9B07FF29398}"/>
              </a:ext>
            </a:extLst>
          </p:cNvPr>
          <p:cNvSpPr/>
          <p:nvPr/>
        </p:nvSpPr>
        <p:spPr>
          <a:xfrm>
            <a:off x="1476329" y="2489586"/>
            <a:ext cx="342677" cy="202776"/>
          </a:xfrm>
          <a:custGeom>
            <a:avLst/>
            <a:gdLst>
              <a:gd name="connsiteX0" fmla="*/ 0 w 401443"/>
              <a:gd name="connsiteY0" fmla="*/ 327112 h 334546"/>
              <a:gd name="connsiteX1" fmla="*/ 81775 w 401443"/>
              <a:gd name="connsiteY1" fmla="*/ 327112 h 334546"/>
              <a:gd name="connsiteX2" fmla="*/ 170985 w 401443"/>
              <a:gd name="connsiteY2" fmla="*/ 327112 h 334546"/>
              <a:gd name="connsiteX3" fmla="*/ 185853 w 401443"/>
              <a:gd name="connsiteY3" fmla="*/ 252771 h 334546"/>
              <a:gd name="connsiteX4" fmla="*/ 185853 w 401443"/>
              <a:gd name="connsiteY4" fmla="*/ 163561 h 334546"/>
              <a:gd name="connsiteX5" fmla="*/ 260195 w 401443"/>
              <a:gd name="connsiteY5" fmla="*/ 10 h 334546"/>
              <a:gd name="connsiteX6" fmla="*/ 297365 w 401443"/>
              <a:gd name="connsiteY6" fmla="*/ 156127 h 334546"/>
              <a:gd name="connsiteX7" fmla="*/ 297365 w 401443"/>
              <a:gd name="connsiteY7" fmla="*/ 275073 h 334546"/>
              <a:gd name="connsiteX8" fmla="*/ 401443 w 401443"/>
              <a:gd name="connsiteY8" fmla="*/ 334546 h 33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443" h="334546">
                <a:moveTo>
                  <a:pt x="0" y="327112"/>
                </a:moveTo>
                <a:lnTo>
                  <a:pt x="81775" y="327112"/>
                </a:lnTo>
                <a:cubicBezTo>
                  <a:pt x="110272" y="327112"/>
                  <a:pt x="153639" y="339502"/>
                  <a:pt x="170985" y="327112"/>
                </a:cubicBezTo>
                <a:cubicBezTo>
                  <a:pt x="188331" y="314722"/>
                  <a:pt x="183375" y="280029"/>
                  <a:pt x="185853" y="252771"/>
                </a:cubicBezTo>
                <a:cubicBezTo>
                  <a:pt x="188331" y="225512"/>
                  <a:pt x="173463" y="205688"/>
                  <a:pt x="185853" y="163561"/>
                </a:cubicBezTo>
                <a:cubicBezTo>
                  <a:pt x="198243" y="121434"/>
                  <a:pt x="241610" y="1249"/>
                  <a:pt x="260195" y="10"/>
                </a:cubicBezTo>
                <a:cubicBezTo>
                  <a:pt x="278780" y="-1229"/>
                  <a:pt x="291170" y="110283"/>
                  <a:pt x="297365" y="156127"/>
                </a:cubicBezTo>
                <a:cubicBezTo>
                  <a:pt x="303560" y="201971"/>
                  <a:pt x="280019" y="245336"/>
                  <a:pt x="297365" y="275073"/>
                </a:cubicBezTo>
                <a:cubicBezTo>
                  <a:pt x="314711" y="304809"/>
                  <a:pt x="358077" y="319677"/>
                  <a:pt x="401443" y="334546"/>
                </a:cubicBezTo>
              </a:path>
            </a:pathLst>
          </a:cu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0A6DD-AC6C-90F9-27AE-14C5FEFB5CBC}"/>
              </a:ext>
            </a:extLst>
          </p:cNvPr>
          <p:cNvSpPr txBox="1"/>
          <p:nvPr/>
        </p:nvSpPr>
        <p:spPr>
          <a:xfrm>
            <a:off x="1471225" y="2252593"/>
            <a:ext cx="422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E66C60-0675-FBC2-2083-2AD9516E302A}"/>
              </a:ext>
            </a:extLst>
          </p:cNvPr>
          <p:cNvSpPr txBox="1"/>
          <p:nvPr/>
        </p:nvSpPr>
        <p:spPr>
          <a:xfrm>
            <a:off x="3006835" y="1068"/>
            <a:ext cx="20168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u="sng" dirty="0">
                <a:latin typeface="Arial" panose="020B0604020202020204" pitchFamily="34" charset="0"/>
                <a:cs typeface="Arial" panose="020B0604020202020204" pitchFamily="34" charset="0"/>
              </a:rPr>
              <a:t>BPR: </a:t>
            </a:r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fraction of Best Possible Reach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91918CA-473C-7FCC-D2AB-D3502EDF4C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9037" y="1630417"/>
            <a:ext cx="1238954" cy="80119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7513083-A051-1C80-DCF0-CD42EDB33836}"/>
              </a:ext>
            </a:extLst>
          </p:cNvPr>
          <p:cNvSpPr txBox="1"/>
          <p:nvPr/>
        </p:nvSpPr>
        <p:spPr>
          <a:xfrm>
            <a:off x="3004261" y="1403402"/>
            <a:ext cx="13869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i="1" dirty="0">
                <a:latin typeface="Arial" panose="020B0604020202020204" pitchFamily="34" charset="0"/>
                <a:cs typeface="Arial" panose="020B0604020202020204" pitchFamily="34" charset="0"/>
              </a:rPr>
              <a:t>Naïve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: per-site mean</a:t>
            </a: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00" b="1" i="1" dirty="0">
                <a:latin typeface="Arial" panose="020B0604020202020204" pitchFamily="34" charset="0"/>
                <a:cs typeface="Arial" panose="020B0604020202020204" pitchFamily="34" charset="0"/>
              </a:rPr>
              <a:t>Ours: 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Rank by bound on BPR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D9A3A9D-E964-7F1E-7043-8D338E933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186061"/>
              </p:ext>
            </p:extLst>
          </p:nvPr>
        </p:nvGraphicFramePr>
        <p:xfrm>
          <a:off x="4579498" y="1401700"/>
          <a:ext cx="1340793" cy="111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12">
                  <a:extLst>
                    <a:ext uri="{9D8B030D-6E8A-4147-A177-3AD203B41FA5}">
                      <a16:colId xmlns:a16="http://schemas.microsoft.com/office/drawing/2014/main" val="1228247791"/>
                    </a:ext>
                  </a:extLst>
                </a:gridCol>
                <a:gridCol w="285305">
                  <a:extLst>
                    <a:ext uri="{9D8B030D-6E8A-4147-A177-3AD203B41FA5}">
                      <a16:colId xmlns:a16="http://schemas.microsoft.com/office/drawing/2014/main" val="3399089840"/>
                    </a:ext>
                  </a:extLst>
                </a:gridCol>
                <a:gridCol w="334776">
                  <a:extLst>
                    <a:ext uri="{9D8B030D-6E8A-4147-A177-3AD203B41FA5}">
                      <a16:colId xmlns:a16="http://schemas.microsoft.com/office/drawing/2014/main" val="251836174"/>
                    </a:ext>
                  </a:extLst>
                </a:gridCol>
              </a:tblGrid>
              <a:tr h="193645">
                <a:tc>
                  <a:txBody>
                    <a:bodyPr/>
                    <a:lstStyle/>
                    <a:p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BPR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</a:t>
                      </a:r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61374"/>
                  </a:ext>
                </a:extLst>
              </a:tr>
              <a:tr h="246186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4070"/>
                  </a:ext>
                </a:extLst>
              </a:tr>
              <a:tr h="232859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BPR</a:t>
                      </a:r>
                    </a:p>
                    <a:p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16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</a:t>
                      </a: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</a:t>
                      </a:r>
                      <a:endParaRPr lang="en-US" sz="9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w/ BPR-decision</a:t>
                      </a:r>
                    </a:p>
                    <a:p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aware constraints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4793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2EEED0BF-68A3-8DB7-95B5-4D11C1343DD7}"/>
              </a:ext>
            </a:extLst>
          </p:cNvPr>
          <p:cNvSpPr txBox="1"/>
          <p:nvPr/>
        </p:nvSpPr>
        <p:spPr>
          <a:xfrm>
            <a:off x="1186689" y="-21454"/>
            <a:ext cx="6077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🤷🏽</a:t>
            </a:r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16E9DC2-DDAF-4EF7-7BBE-935493353B69}"/>
              </a:ext>
            </a:extLst>
          </p:cNvPr>
          <p:cNvCxnSpPr>
            <a:cxnSpLocks/>
          </p:cNvCxnSpPr>
          <p:nvPr/>
        </p:nvCxnSpPr>
        <p:spPr>
          <a:xfrm flipV="1">
            <a:off x="932303" y="60117"/>
            <a:ext cx="1139540" cy="63335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Callout 45">
            <a:extLst>
              <a:ext uri="{FF2B5EF4-FFF2-40B4-BE49-F238E27FC236}">
                <a16:creationId xmlns:a16="http://schemas.microsoft.com/office/drawing/2014/main" id="{F1891D94-D734-CAEC-5DC0-EA732125D9B6}"/>
              </a:ext>
            </a:extLst>
          </p:cNvPr>
          <p:cNvSpPr/>
          <p:nvPr/>
        </p:nvSpPr>
        <p:spPr>
          <a:xfrm>
            <a:off x="97223" y="147978"/>
            <a:ext cx="1139540" cy="416656"/>
          </a:xfrm>
          <a:prstGeom prst="wedgeEllipseCallout">
            <a:avLst>
              <a:gd name="adj1" fmla="val 49736"/>
              <a:gd name="adj2" fmla="val -4694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sz="1000" i="1" dirty="0">
                <a:solidFill>
                  <a:schemeClr val="tx1"/>
                </a:solidFill>
              </a:rPr>
              <a:t>How to pick the top K sites?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BA6AF9-2794-F199-2B3F-890B2DC55374}"/>
              </a:ext>
            </a:extLst>
          </p:cNvPr>
          <p:cNvCxnSpPr>
            <a:cxnSpLocks/>
          </p:cNvCxnSpPr>
          <p:nvPr/>
        </p:nvCxnSpPr>
        <p:spPr>
          <a:xfrm flipV="1">
            <a:off x="2116721" y="147978"/>
            <a:ext cx="214071" cy="101093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FEFFA58-504C-7BE2-033C-695E94BEAC33}"/>
              </a:ext>
            </a:extLst>
          </p:cNvPr>
          <p:cNvSpPr txBox="1"/>
          <p:nvPr/>
        </p:nvSpPr>
        <p:spPr>
          <a:xfrm>
            <a:off x="4085577" y="230063"/>
            <a:ext cx="144783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# actual events in K recommended sites</a:t>
            </a:r>
          </a:p>
          <a:p>
            <a:endParaRPr lang="en-US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# actual events in perfect oracle’s top-K sites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2E81715-A026-4AAA-E44F-07C23BB7D8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2380" y="330747"/>
            <a:ext cx="2168399" cy="12193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899ADDF-42D2-2EFF-A1B1-EC1C8D228850}"/>
              </a:ext>
            </a:extLst>
          </p:cNvPr>
          <p:cNvSpPr txBox="1"/>
          <p:nvPr/>
        </p:nvSpPr>
        <p:spPr>
          <a:xfrm>
            <a:off x="3090202" y="542940"/>
            <a:ext cx="2595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Between 0.0 and 1.0, higher is better.</a:t>
            </a:r>
          </a:p>
          <a:p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When the model family is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misspecified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, fitting </a:t>
            </a:r>
            <a:r>
              <a:rPr lang="en-US" sz="600" i="1" dirty="0" err="1">
                <a:latin typeface="Arial" panose="020B0604020202020204" pitchFamily="34" charset="0"/>
                <a:cs typeface="Arial" panose="020B0604020202020204" pitchFamily="34" charset="0"/>
              </a:rPr>
              <a:t>ɸ</a:t>
            </a:r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via maximum likelihood can produce inferior BPR.  </a:t>
            </a:r>
          </a:p>
        </p:txBody>
      </p:sp>
    </p:spTree>
    <p:extLst>
      <p:ext uri="{BB962C8B-B14F-4D97-AF65-F5344CB8AC3E}">
        <p14:creationId xmlns:p14="http://schemas.microsoft.com/office/powerpoint/2010/main" val="3094140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</TotalTime>
  <Words>237</Words>
  <Application>Microsoft Macintosh PowerPoint</Application>
  <PresentationFormat>Custom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Monaco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Hughes, Michael Claude</dc:creator>
  <cp:lastModifiedBy>Hughes, Michael Claude</cp:lastModifiedBy>
  <cp:revision>6</cp:revision>
  <dcterms:created xsi:type="dcterms:W3CDTF">2025-01-22T13:27:38Z</dcterms:created>
  <dcterms:modified xsi:type="dcterms:W3CDTF">2025-01-22T15:28:44Z</dcterms:modified>
</cp:coreProperties>
</file>